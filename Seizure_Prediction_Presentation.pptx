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3E"/>
                </a:solidFill>
                <a:latin typeface="Arial"/>
              </a:rPr>
              <a:t>Feature Sparsity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Sparsity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L1 (Lasso)</c:v>
                  </c:pt>
                  <c:pt idx="1">
                    <c:v>Elastic Net</c:v>
                  </c:pt>
                  <c:pt idx="2">
                    <c:v>L2 (Ridge)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93.3</c:v>
                </c:pt>
                <c:pt idx="1">
                  <c:v>80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3E"/>
                </a:solidFill>
                <a:latin typeface="Arial"/>
              </a:rPr>
              <a:t>PR-AUC by Dataset &amp; Regulariser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 Bonn</c:v>
                  </c:pt>
                  <c:pt idx="1">
                    <c:v>CHB-MIT</c:v>
                  </c:pt>
                  <c:pt idx="2">
                    <c:v>Siena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</c:v>
                </c:pt>
                <c:pt idx="1">
                  <c:v>0.82</c:v>
                </c:pt>
                <c:pt idx="2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 Bonn</c:v>
                  </c:pt>
                  <c:pt idx="1">
                    <c:v>CHB-MIT</c:v>
                  </c:pt>
                  <c:pt idx="2">
                    <c:v>Siena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</c:v>
                </c:pt>
                <c:pt idx="1">
                  <c:v>0.85</c:v>
                </c:pt>
                <c:pt idx="2">
                  <c:v>0.86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 Net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 Bonn</c:v>
                  </c:pt>
                  <c:pt idx="1">
                    <c:v>CHB-MIT</c:v>
                  </c:pt>
                  <c:pt idx="2">
                    <c:v>Siena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</c:v>
                </c:pt>
                <c:pt idx="1">
                  <c:v>0.88</c:v>
                </c:pt>
                <c:pt idx="2">
                  <c:v>0.89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Epileptic Seizure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Prediction using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CC8"/>
                </a:solidFill>
              </a:rPr>
              <a:t>Preprocessing Strategies · Regularisation · Class Imbalance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920240" cy="731520"/>
          </a:xfrm>
          <a:prstGeom prst="rect">
            <a:avLst/>
          </a:prstGeom>
          <a:solidFill>
            <a:srgbClr val="1A3A5C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410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Datasets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1920240" cy="731520"/>
          </a:xfrm>
          <a:prstGeom prst="rect">
            <a:avLst/>
          </a:prstGeom>
          <a:solidFill>
            <a:srgbClr val="1A3A5C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9410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Pipelines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731520"/>
          </a:xfrm>
          <a:prstGeom prst="rect">
            <a:avLst/>
          </a:prstGeom>
          <a:solidFill>
            <a:srgbClr val="1A3A5C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410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Regularisers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931920"/>
            <a:ext cx="1920240" cy="731520"/>
          </a:xfrm>
          <a:prstGeom prst="rect">
            <a:avLst/>
          </a:prstGeom>
          <a:solidFill>
            <a:srgbClr val="1A3A5C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9410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Research Q's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Why Seizure Prediction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🧠  Rare 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105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Seizures may last only 1–2 min in 24 hrs of recording — as rare as 2% of total signal.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📉  Severe Imbalance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8105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50:1 normal-to-seizure ratio in real hospital data. Standard accuracy is meaningless.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73152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🔊  Noisy 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2735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23 EEG sensors picking up eye blinks, muscle artifacts, and power line noise.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73152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🏥  Clinical Stakes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2735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Missing a seizure causes injury. A false alarm wastes clinical resources.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Goal: Build a transparent, clinically deployable ML model that maximises seizure recall.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UCI Bonn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Easy / 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Sensors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664208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322576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625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809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Seizure Recs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980944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639312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4:1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777240"/>
            <a:ext cx="2743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777240"/>
            <a:ext cx="274320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CHB-MIT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Hard / Clinical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6642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Sensors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664208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23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322576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5,100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287121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9809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Seizure Recs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980944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3529584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6393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Imbalance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639312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50:1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80760" y="777240"/>
            <a:ext cx="2743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777240"/>
            <a:ext cx="274320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Siena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807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Messy / Realistic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16642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Sensors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43800" y="1664208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20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2212848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43800" y="2322576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1,200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72200" y="287121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9809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Seizure Recs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43800" y="2980944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180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72200" y="3529584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6393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Imbalance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43800" y="3639312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5.7:1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Imbalance ratio = key challenge. CHB-MIT's 50:1 ratio represents real clinical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Preprocessing Pipelines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Signal-Centric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69164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6002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Extract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214884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146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65176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2560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Standardise (Z-score)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310896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747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6118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35204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Select Top 20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777240"/>
            <a:ext cx="274320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Feature-Centric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5544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69164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67328" y="16002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Extract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148840"/>
            <a:ext cx="0" cy="3657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5146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265176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67328" y="2560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Robust Scaling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3108960"/>
            <a:ext cx="0" cy="3657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4992" y="361188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35204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PCA Compression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777240"/>
            <a:ext cx="27432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C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8076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Hybrid (Proposed)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1554480"/>
            <a:ext cx="2560320" cy="594360"/>
          </a:xfrm>
          <a:prstGeom prst="rect">
            <a:avLst/>
          </a:prstGeom>
          <a:solidFill>
            <a:srgbClr val="EEF8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5352" y="1691640"/>
            <a:ext cx="320040" cy="3200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47688" y="16002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Extract Features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52360" y="2148840"/>
            <a:ext cx="0" cy="36576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2514600"/>
            <a:ext cx="2560320" cy="594360"/>
          </a:xfrm>
          <a:prstGeom prst="rect">
            <a:avLst/>
          </a:prstGeom>
          <a:solidFill>
            <a:srgbClr val="EEF8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45352" y="2651760"/>
            <a:ext cx="320040" cy="3200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47688" y="2560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Standardise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52360" y="3108960"/>
            <a:ext cx="0" cy="36576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3474720"/>
            <a:ext cx="2560320" cy="594360"/>
          </a:xfrm>
          <a:prstGeom prst="rect">
            <a:avLst/>
          </a:prstGeom>
          <a:solidFill>
            <a:srgbClr val="EEF8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45352" y="3611880"/>
            <a:ext cx="320040" cy="3200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47688" y="35204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PCA → Select Top 15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EEF8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4622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3E"/>
                </a:solidFill>
              </a:rPr>
              <a:t>🔬  Research Insight: Pipeline C groups correlated sensors via PCA BEFORE feature selection — preserving inter-sensor relationships that A and B discard. This improves PR-AUC on multi-sensor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Model: Logistic Regression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777240"/>
            <a:ext cx="64008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7772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 | x)  =  1 / (1 + e^−(β₀ + βᵀx))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69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Fast &amp; Interpretable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Trains in seconds. Coefficients show which EEG features drive predictions — critical for clinical trust.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69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Well-Established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50+ years of use in medical risk modelling. Regulatory bodies understand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69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6324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Good Baseline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If LR works, complex models will too. If LR fails, we understand exactly why.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69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06324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Not Deep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black box. Doctors need to know WHY an alert fired — impossible with neural networks.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Key Metrics Reported:  Accuracy · F1-Score · PR-AUC (primary) · ROC-AUC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Overfitting &amp; Underfitting Demonstration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Underfitting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Regularisation: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27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 = 0.0001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2 hand-picked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587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PR-AUC:  ~0.61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PR-AUC:    ~0.59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3E"/>
                </a:solidFill>
              </a:rPr>
              <a:t>Both curves flat at bottom — model too simple to learn the boundary.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Optimal Fit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Regularisation: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627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 = 1.0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Pipeline C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587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PR-AUC:  ~0.94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PR-AUC:    ~0.91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3E"/>
                </a:solidFill>
              </a:rPr>
              <a:t>Train and validation converge — model generalises to unseen data.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77724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777240"/>
            <a:ext cx="27432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Overfitting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90488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Regularisation: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1627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 = 10000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0488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178 raw + polynomial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2587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PR-AUC:  ~0.99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PR-AUC:    ~0.71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977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3E"/>
                </a:solidFill>
              </a:rPr>
              <a:t>Train soars, val crashes — model memorised noise, not signal.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Regularisation Study: L1 · L2 · Elastic Net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023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7724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1188720"/>
        </p:xfrm>
        <a:graphic>
          <a:graphicData uri="http://schemas.openxmlformats.org/drawingml/2006/table">
            <a:tbl>
              <a:tblPr/>
              <a:tblGrid>
                <a:gridCol w="2560320"/>
                <a:gridCol w="2103120"/>
                <a:gridCol w="374904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Regulariser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UCI Bonn (1 sensor)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L2 (Ridge)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Features are uncorrelated — EN adds complexity with no benefit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CHB-MIT (23 sensors)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Elastic Net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Correlated sensors — EN handles grouping via L2 + sparsity via 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Siena (20 sensors)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Elastic Net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Correlated + noisy — most stable across random seeds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Key Myth Busted: Elastic Net is NOT always best — dataset structure determines the optimal regulariser.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Handling Class Imbalance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FFF3F3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⚠️  The Accuracy Trap: A model that always predicts 'no seizure' achieves 98% accuracy on CHB-MIT — yet detects ZERO seizures.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SMOTE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✔ Balances data by generating synthetic seizures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✖ Fake seizures may be unrealistic; can mislead L1 to drop real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73152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Undersampling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✔ Simple, fast — discards majority class samples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258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✖ Wastes valid training data; unstable on small datasets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44368"/>
            <a:ext cx="7315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99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Class Weighting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3284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✔ No fake data — model pays 50× more attention to seizures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✖ Does not change data distribution; harder to learn from few examples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944368"/>
            <a:ext cx="7315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99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SMOTE + Weighting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3284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✔ Belt-and-suspenders approach, extra safety 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630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✖ Can overcorrect — watch precision drop on non-seizure class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Recommendation: Class Weighting + L2 — safest for clinical deployment. No synthetic data, stable across seeds.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Comparative Analysis — The 4 Research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Q1: Does preprocessing order affect results?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Answer: YES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Pipeline C (PCA before selection) outperforms A and B on multi-sensor datasets. Ordering preserves inter-sensor correlation — a measurable effect.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6868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868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Q2: Which regulariser generalises best?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84048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Answer: Dataset-Dependent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L2 is best on single-sensor UCI (uncorrelated features). Elastic Net wins on CHB-MIT and Siena (correlated features). No single winner.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880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Q3: Does Elastic Net always beat L1/L2?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8404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Answer: 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 UCI Bonn, L2 matches Elastic Net with zero extra tuning. Elastic Net's l1_ratio dial adds complexity that isn't always worth it.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880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880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Q4: How does imbalance × regularisation interact?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38404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Answer: SMOTE + L1 = Dangerous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SMOTE creates synthetic seizures → noisy features → L1 deletes them → loss of real seizure signal. Class Weighting + L2 is the safest combination.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PR-AUC across Datasets, Pipelines &amp; Regularisers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188720"/>
                <a:gridCol w="1188720"/>
                <a:gridCol w="155448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Elastic Net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 Weight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UCI Bonn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UCI Bonn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UCI Bonn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CHB-MIT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CHB-MIT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CHB-MIT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Siena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Siena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Siena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Highlighted cells = best per dataset. Pipeline C + Elastic Net = peak performance on multi-sensor data.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Numbers — Quick Reference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Output Classes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(Seizure / Normal)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326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Datasets Used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326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50:1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Worst Imbalance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(CHB-MIT)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9326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Pipelines Tested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786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93.3%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L1 Sparsity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46888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5786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6888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L2 Sparsity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46888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5786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80%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1772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Elastic 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Sparsity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46888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5786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C=1.0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Optimal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CC8"/>
                </a:solidFill>
              </a:rPr>
              <a:t>Regularisation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FFF3F3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</a:rPr>
              <a:t>Myth Busted  →  "Elastic Net is always best" is FALSE. L2 matches it on uncorrelated single-sensor data with less tuning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Recommendations for Clinical Deployment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32688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Use Pipeline 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24358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Always apply PCA before feature selection on multi-sensor EEG. The order of preprocessing steps has a measurable, statistically significant effect on PR-AUC.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47088"/>
            <a:ext cx="73152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56816"/>
            <a:ext cx="475488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Choose Regulariser by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26771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Single-sensor / low correlation → L2. Multi-sensor / high correlation → Elastic Net. Evaluate with cross-dataset PR-AUC stability, not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8412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71216"/>
            <a:ext cx="73152" cy="8961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80944"/>
            <a:ext cx="475488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2944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Prefer Class Weighting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29184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Avoid SMOTE in clinical pipelines. Synthetic seizures distort real signal — especially dangerous when combined with L1's aggressive feature deletion.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8412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95344"/>
            <a:ext cx="73152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05072"/>
            <a:ext cx="475488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968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Primary Metric: PR-AUC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43159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Never report accuracy alone on imbalanced data. PR-AUC correctly penalises models that ignore the minority class. Report alongside F1 and recall.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95604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8090"/>
                </a:solidFill>
              </a:rPr>
              <a:t>Bottom line: Understand your data structure first. Pick tools that match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642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FF5"/>
                </a:solidFill>
              </a:rPr>
              <a:t>Preprocessing ORDER matters — Pipeline C outperforms A/B on multi-sensor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FF5"/>
                </a:solidFill>
              </a:rPr>
              <a:t>No universal regulariser — choose L2 vs Elastic Net based on feature correlation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358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FF5"/>
                </a:solidFill>
              </a:rPr>
              <a:t>SMOTE + L1 is dangerous — class weighting + L2 is the safest clinical choice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216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FF5"/>
                </a:solidFill>
              </a:rPr>
              <a:t>PR-AUC is the only honest metric for severely imbalanced seizure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1A3A5C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C8"/>
                </a:solidFill>
              </a:rPr>
              <a:t>Questions?  |  Epileptic Seizure Prediction — Machine Learning Assignment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Epileptic Seizure Prediction</dc:title>
  <dc:subject>PptxGenJS Presentation</dc:subject>
  <dc:creator>Seizure Prediction Research Team</dc:creator>
  <cp:lastModifiedBy>Seizure Prediction Research Team</cp:lastModifiedBy>
  <cp:revision>1</cp:revision>
  <dcterms:created xsi:type="dcterms:W3CDTF">2026-05-20T07:40:44Z</dcterms:created>
  <dcterms:modified xsi:type="dcterms:W3CDTF">2026-05-20T07:40:44Z</dcterms:modified>
</cp:coreProperties>
</file>